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514807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400"/>
            </a:pPr>
            <a:r>
              <a:t>HCV Impact Metrics</a:t>
            </a:r>
          </a:p>
        </c:rich>
      </c:tx>
      <c:layout/>
      <c:overlay val="0"/>
    </c:title>
    <c:autoTitleDeleted val="0"/>
    <c:plotArea>
      <c:barChart>
        <c:barDir val="bar"/>
        <c:grouping val="clustered"/>
        <c:ser>
          <c:idx val="0"/>
          <c:order val="0"/>
          <c:tx>
            <c:strRef>
              <c:f>Sheet1!$B$1</c:f>
              <c:strCache>
                <c:ptCount val="1"/>
                <c:pt idx="0">
                  <c:v>Metric</c:v>
                </c:pt>
              </c:strCache>
            </c:strRef>
          </c:tx>
          <c:cat>
            <c:strRef>
              <c:f>Sheet1!$A$2:$A$6</c:f>
              <c:strCache>
                <c:ptCount val="5"/>
                <c:pt idx="0">
                  <c:v>Served</c:v>
                </c:pt>
                <c:pt idx="1">
                  <c:v>Grades Improved</c:v>
                </c:pt>
                <c:pt idx="2">
                  <c:v>Graduation</c:v>
                </c:pt>
                <c:pt idx="3">
                  <c:v>Partners</c:v>
                </c:pt>
                <c:pt idx="4">
                  <c:v>Support Hours</c:v>
                </c:pt>
              </c:strCache>
            </c:strRef>
          </c:cat>
          <c:val>
            <c:numRef>
              <c:f>Sheet1!$B$2:$B$6</c:f>
              <c:numCache>
                <c:formatCode>General</c:formatCode>
                <c:ptCount val="5"/>
                <c:pt idx="0">
                  <c:v>1659</c:v>
                </c:pt>
                <c:pt idx="1">
                  <c:v>70</c:v>
                </c:pt>
                <c:pt idx="2">
                  <c:v>92</c:v>
                </c:pt>
                <c:pt idx="3">
                  <c:v>58</c:v>
                </c:pt>
                <c:pt idx="4">
                  <c:v>10000</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b"/>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hcvpgh.org/about/mission-vision-values/#:~:text=" TargetMode="External"/><Relationship Id="rId4" Type="http://schemas.openxmlformats.org/officeDocument/2006/relationships/hyperlink" Target="https://hcvpgh.org/#:~:tex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hcvpgh.org/about/mission-vision-values/#:~:tex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hcvpgh.org/about/mission-vision-values/#:~:text=" TargetMode="External"/><Relationship Id="rId4" Type="http://schemas.openxmlformats.org/officeDocument/2006/relationships/hyperlink" Target="https://hcvpgh.org/about/mission-vision-values/#:~:text=Together%2C%20with%20a%20strong%20village,families%20thrive%20and%20children%20succee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hyperlink" Target="https://hcvpgh.org/#:~:text=" TargetMode="External"/><Relationship Id="rId5" Type="http://schemas.openxmlformats.org/officeDocument/2006/relationships/hyperlink" Target="https://hcvpgh.org/what-we-do/youth/#:~:text=HCV%20AmeriCorps%20Members%20provide%2010%2C000%2B,school%20community%20through%20service%20project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hcvpgh.org/about/history/#:~:text=%5BImage%201%5DHomewood%20is%20a%20one,of%20poverty%2C%20isolation%2C%20and%20disinvestmen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hcvpgh.org/what-we-do/youth/#:~:text=Youth%20Programs" TargetMode="External"/><Relationship Id="rId4" Type="http://schemas.openxmlformats.org/officeDocument/2006/relationships/hyperlink" Target="https://hcvpgh.org/what-we-do/family/#:~:text=We%20believe%20families%20need%20comprehensive,family%20activities%2C%20enrichment%2C%20and%20fellowship" TargetMode="External"/><Relationship Id="rId5" Type="http://schemas.openxmlformats.org/officeDocument/2006/relationships/hyperlink" Target="https://hcvpgh.org/what-we-do/community/#:~:text=Community%20Program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hcvpgh.org/about/team-boar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hcvpgh.org/about/mission-vision-values/#:~:text=We%20Believe" TargetMode="External"/><Relationship Id="rId4" Type="http://schemas.openxmlformats.org/officeDocument/2006/relationships/hyperlink" Target="https://hcvpgh.org/what-we-do/community/#:~:text=The%20Leadership%20Institut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1188720"/>
            <a:ext cx="8229600" cy="1828800"/>
          </a:xfrm>
          <a:prstGeom prst="rect">
            <a:avLst/>
          </a:prstGeom>
          <a:noFill/>
        </p:spPr>
        <p:txBody>
          <a:bodyPr wrap="none">
            <a:spAutoFit/>
          </a:bodyPr>
          <a:lstStyle/>
          <a:p>
            <a:pPr algn="l"/>
            <a:r>
              <a:rPr sz="4000" b="1">
                <a:solidFill>
                  <a:srgbClr val="002654"/>
                </a:solidFill>
              </a:rPr>
              <a:t>Community Finance Protocol</a:t>
            </a:r>
          </a:p>
          <a:p>
            <a:pPr algn="l"/>
            <a:r>
              <a:rPr sz="1800" i="1">
                <a:solidFill>
                  <a:srgbClr val="007DC3"/>
                </a:solidFill>
              </a:rPr>
              <a:t>Empowering Homewood through Faith &amp; Finance</a:t>
            </a:r>
          </a:p>
          <a:p>
            <a:pPr algn="l"/>
            <a:r>
              <a:rPr sz="1400">
                <a:solidFill>
                  <a:srgbClr val="282828"/>
                </a:solidFill>
              </a:rPr>
              <a:t>Homewood Children’s Village &amp; Community Finance Protocol</a:t>
            </a:r>
          </a:p>
        </p:txBody>
      </p:sp>
      <p:sp>
        <p:nvSpPr>
          <p:cNvPr id="4" name="TextBox 3"/>
          <p:cNvSpPr txBox="1"/>
          <p:nvPr/>
        </p:nvSpPr>
        <p:spPr>
          <a:xfrm>
            <a:off x="457200" y="4663440"/>
            <a:ext cx="8229600" cy="274320"/>
          </a:xfrm>
          <a:prstGeom prst="rect">
            <a:avLst/>
          </a:prstGeom>
          <a:noFill/>
        </p:spPr>
        <p:txBody>
          <a:bodyPr wrap="none">
            <a:spAutoFit/>
          </a:bodyPr>
          <a:lstStyle/>
          <a:p>
            <a:pPr>
              <a:defRPr sz="600">
                <a:solidFill>
                  <a:srgbClr val="0000FF"/>
                </a:solidFill>
              </a:defRPr>
            </a:pPr>
            <a:r>
              <a:rPr>
                <a:hlinkClick r:id="rId3"/>
              </a:rPr>
              <a:t>[1] </a:t>
            </a:r>
            <a:r>
              <a:rPr>
                <a:hlinkClick r:id="rId4"/>
              </a:rPr>
              <a:t>[2]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457200"/>
            <a:ext cx="8229600" cy="731520"/>
          </a:xfrm>
          <a:prstGeom prst="rect">
            <a:avLst/>
          </a:prstGeom>
          <a:noFill/>
        </p:spPr>
        <p:txBody>
          <a:bodyPr wrap="none">
            <a:spAutoFit/>
          </a:bodyPr>
          <a:lstStyle/>
          <a:p>
            <a:pPr>
              <a:defRPr sz="3200" b="1">
                <a:solidFill>
                  <a:srgbClr val="002654"/>
                </a:solidFill>
              </a:defRPr>
            </a:pPr>
            <a:r>
              <a:rPr/>
              <a:t>Agenda</a:t>
            </a:r>
          </a:p>
        </p:txBody>
      </p:sp>
      <p:sp>
        <p:nvSpPr>
          <p:cNvPr id="4" name="TextBox 3"/>
          <p:cNvSpPr txBox="1"/>
          <p:nvPr/>
        </p:nvSpPr>
        <p:spPr>
          <a:xfrm>
            <a:off x="914400" y="1371600"/>
            <a:ext cx="7315200" cy="2743200"/>
          </a:xfrm>
          <a:prstGeom prst="rect">
            <a:avLst/>
          </a:prstGeom>
          <a:noFill/>
        </p:spPr>
        <p:txBody>
          <a:bodyPr wrap="none">
            <a:spAutoFit/>
          </a:bodyPr>
          <a:lstStyle/>
          <a:p/>
          <a:p>
            <a:pPr>
              <a:defRPr sz="1600">
                <a:solidFill>
                  <a:srgbClr val="282828"/>
                </a:solidFill>
              </a:defRPr>
            </a:pPr>
            <a:r>
              <a:rPr/>
              <a:t>• Mission &amp; Vision</a:t>
            </a:r>
          </a:p>
          <a:p>
            <a:pPr>
              <a:defRPr sz="1600">
                <a:solidFill>
                  <a:srgbClr val="282828"/>
                </a:solidFill>
              </a:defRPr>
            </a:pPr>
            <a:r>
              <a:rPr/>
              <a:t>• Impact &amp; Statistics</a:t>
            </a:r>
          </a:p>
          <a:p>
            <a:pPr>
              <a:defRPr sz="1600">
                <a:solidFill>
                  <a:srgbClr val="282828"/>
                </a:solidFill>
              </a:defRPr>
            </a:pPr>
            <a:r>
              <a:rPr/>
              <a:t>• History &amp; Context</a:t>
            </a:r>
          </a:p>
          <a:p>
            <a:pPr>
              <a:defRPr sz="1600">
                <a:solidFill>
                  <a:srgbClr val="282828"/>
                </a:solidFill>
              </a:defRPr>
            </a:pPr>
            <a:r>
              <a:rPr/>
              <a:t>• Programs &amp; Services</a:t>
            </a:r>
          </a:p>
          <a:p>
            <a:pPr>
              <a:defRPr sz="1600">
                <a:solidFill>
                  <a:srgbClr val="282828"/>
                </a:solidFill>
              </a:defRPr>
            </a:pPr>
            <a:r>
              <a:rPr/>
              <a:t>• Team &amp; Capacity</a:t>
            </a:r>
          </a:p>
          <a:p>
            <a:pPr>
              <a:defRPr sz="1600">
                <a:solidFill>
                  <a:srgbClr val="282828"/>
                </a:solidFill>
              </a:defRPr>
            </a:pPr>
            <a:r>
              <a:rPr/>
              <a:t>• Community Finance Protocol</a:t>
            </a:r>
          </a:p>
          <a:p>
            <a:pPr>
              <a:defRPr sz="1600">
                <a:solidFill>
                  <a:srgbClr val="282828"/>
                </a:solidFill>
              </a:defRPr>
            </a:pPr>
            <a:r>
              <a:rPr/>
              <a:t>• Synergies &amp; Impact</a:t>
            </a:r>
          </a:p>
          <a:p>
            <a:pPr>
              <a:defRPr sz="1600">
                <a:solidFill>
                  <a:srgbClr val="282828"/>
                </a:solidFill>
              </a:defRPr>
            </a:pPr>
            <a:r>
              <a:rPr/>
              <a:t>• Roadmap &amp; Ask</a:t>
            </a:r>
          </a:p>
          <a:p>
            <a:pPr>
              <a:defRPr sz="1600">
                <a:solidFill>
                  <a:srgbClr val="282828"/>
                </a:solidFill>
              </a:defRPr>
            </a:pPr>
            <a:r>
              <a:rPr/>
              <a:t>• Conclusion</a:t>
            </a:r>
          </a:p>
        </p:txBody>
      </p:sp>
      <p:sp>
        <p:nvSpPr>
          <p:cNvPr id="5" name="TextBox 4"/>
          <p:cNvSpPr txBox="1"/>
          <p:nvPr/>
        </p:nvSpPr>
        <p:spPr>
          <a:xfrm>
            <a:off x="457200" y="4663440"/>
            <a:ext cx="8229600" cy="274320"/>
          </a:xfrm>
          <a:prstGeom prst="rect">
            <a:avLst/>
          </a:prstGeom>
          <a:noFill/>
        </p:spPr>
        <p:txBody>
          <a:bodyPr wrap="none">
            <a:spAutoFit/>
          </a:bodyPr>
          <a:lstStyle/>
          <a:p>
            <a:pPr>
              <a:defRPr sz="600">
                <a:solidFill>
                  <a:srgbClr val="0000FF"/>
                </a:solidFill>
              </a:defRPr>
            </a:pPr>
            <a:r>
              <a:rPr>
                <a:hlinkClick r:id="rId3"/>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2654"/>
                </a:solidFill>
              </a:defRPr>
            </a:pPr>
            <a:r>
              <a:rPr/>
              <a:t>Mission &amp; Vision</a:t>
            </a:r>
          </a:p>
        </p:txBody>
      </p:sp>
      <p:sp>
        <p:nvSpPr>
          <p:cNvPr id="4" name="Rectangle 3"/>
          <p:cNvSpPr/>
          <p:nvPr/>
        </p:nvSpPr>
        <p:spPr>
          <a:xfrm>
            <a:off x="457200" y="1097280"/>
            <a:ext cx="4114800" cy="1828800"/>
          </a:xfrm>
          <a:prstGeom prst="rect">
            <a:avLst/>
          </a:prstGeom>
          <a:solidFill>
            <a:srgbClr val="E6F5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2654"/>
                </a:solidFill>
              </a:defRPr>
            </a:pPr>
            <a:r>
              <a:rPr/>
              <a:t>Mission</a:t>
            </a:r>
          </a:p>
          <a:p>
            <a:pPr>
              <a:spcBef>
                <a:spcPts val="0"/>
              </a:spcBef>
              <a:defRPr sz="1400">
                <a:solidFill>
                  <a:srgbClr val="282828"/>
                </a:solidFill>
              </a:defRPr>
            </a:pPr>
            <a:r>
              <a:rPr/>
              <a:t>Improve the lives of Homewood’s children and reweave the community’s fabric</a:t>
            </a:r>
          </a:p>
        </p:txBody>
      </p:sp>
      <p:sp>
        <p:nvSpPr>
          <p:cNvPr id="5" name="Rectangle 4"/>
          <p:cNvSpPr/>
          <p:nvPr/>
        </p:nvSpPr>
        <p:spPr>
          <a:xfrm>
            <a:off x="4572000" y="1097280"/>
            <a:ext cx="4114800" cy="1828800"/>
          </a:xfrm>
          <a:prstGeom prst="rect">
            <a:avLst/>
          </a:prstGeom>
          <a:solidFill>
            <a:srgbClr val="FFFAF0"/>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2654"/>
                </a:solidFill>
              </a:defRPr>
            </a:pPr>
            <a:r>
              <a:rPr/>
              <a:t>Vision</a:t>
            </a:r>
          </a:p>
          <a:p>
            <a:pPr>
              <a:spcBef>
                <a:spcPts val="0"/>
              </a:spcBef>
              <a:defRPr sz="1400">
                <a:solidFill>
                  <a:srgbClr val="282828"/>
                </a:solidFill>
              </a:defRPr>
            </a:pPr>
            <a:r>
              <a:rPr/>
              <a:t>Transform Homewood into a community of opportunity where families thrive and children succeed</a:t>
            </a:r>
          </a:p>
        </p:txBody>
      </p:sp>
      <p:sp>
        <p:nvSpPr>
          <p:cNvPr id="6" name="TextBox 5"/>
          <p:cNvSpPr txBox="1"/>
          <p:nvPr/>
        </p:nvSpPr>
        <p:spPr>
          <a:xfrm>
            <a:off x="457200" y="4663440"/>
            <a:ext cx="8229600" cy="274320"/>
          </a:xfrm>
          <a:prstGeom prst="rect">
            <a:avLst/>
          </a:prstGeom>
          <a:noFill/>
        </p:spPr>
        <p:txBody>
          <a:bodyPr wrap="none">
            <a:spAutoFit/>
          </a:bodyPr>
          <a:lstStyle/>
          <a:p>
            <a:pPr>
              <a:defRPr sz="600">
                <a:solidFill>
                  <a:srgbClr val="0000FF"/>
                </a:solidFill>
              </a:defRPr>
            </a:pPr>
            <a:r>
              <a:rPr>
                <a:hlinkClick r:id="rId3"/>
              </a:rPr>
              <a:t>[1] </a:t>
            </a:r>
            <a:r>
              <a:rPr>
                <a:hlinkClick r:id="rId4"/>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2654"/>
                </a:solidFill>
              </a:defRPr>
            </a:pPr>
            <a:r>
              <a:rPr/>
              <a:t>Impact &amp; Statistics</a:t>
            </a:r>
          </a:p>
        </p:txBody>
      </p:sp>
      <p:graphicFrame>
        <p:nvGraphicFramePr>
          <p:cNvPr id="4" name="Chart 3"/>
          <p:cNvGraphicFramePr>
            <a:graphicFrameLocks noGrp="1"/>
          </p:cNvGraphicFramePr>
          <p:nvPr/>
        </p:nvGraphicFramePr>
        <p:xfrm>
          <a:off x="457200" y="1097280"/>
          <a:ext cx="4114800" cy="2560320"/>
        </p:xfrm>
        <a:graphic>
          <a:graphicData uri="http://schemas.openxmlformats.org/drawingml/2006/chart">
            <c:chart xmlns:c="http://schemas.openxmlformats.org/drawingml/2006/chart" r:id="rId3"/>
          </a:graphicData>
        </a:graphic>
      </p:graphicFrame>
      <p:sp>
        <p:nvSpPr>
          <p:cNvPr id="5" name="TextBox 4"/>
          <p:cNvSpPr txBox="1"/>
          <p:nvPr/>
        </p:nvSpPr>
        <p:spPr>
          <a:xfrm>
            <a:off x="4754880" y="1097280"/>
            <a:ext cx="4114800" cy="2560320"/>
          </a:xfrm>
          <a:prstGeom prst="rect">
            <a:avLst/>
          </a:prstGeom>
          <a:noFill/>
        </p:spPr>
        <p:txBody>
          <a:bodyPr wrap="none">
            <a:spAutoFit/>
          </a:bodyPr>
          <a:lstStyle/>
          <a:p/>
          <a:p>
            <a:pPr>
              <a:defRPr sz="1400">
                <a:solidFill>
                  <a:srgbClr val="282828"/>
                </a:solidFill>
              </a:defRPr>
            </a:pPr>
            <a:r>
              <a:rPr/>
              <a:t>• 1,659 youth &amp; adults served</a:t>
            </a:r>
          </a:p>
          <a:p>
            <a:pPr>
              <a:defRPr sz="1400">
                <a:solidFill>
                  <a:srgbClr val="282828"/>
                </a:solidFill>
              </a:defRPr>
            </a:pPr>
            <a:r>
              <a:rPr/>
              <a:t>• 70% of students maintain or improve grades</a:t>
            </a:r>
          </a:p>
          <a:p>
            <a:pPr>
              <a:defRPr sz="1400">
                <a:solidFill>
                  <a:srgbClr val="282828"/>
                </a:solidFill>
              </a:defRPr>
            </a:pPr>
            <a:r>
              <a:rPr/>
              <a:t>• 92% graduation rate</a:t>
            </a:r>
          </a:p>
          <a:p>
            <a:pPr>
              <a:defRPr sz="1400">
                <a:solidFill>
                  <a:srgbClr val="282828"/>
                </a:solidFill>
              </a:defRPr>
            </a:pPr>
            <a:r>
              <a:rPr/>
              <a:t>• 58 community partners engaged</a:t>
            </a:r>
          </a:p>
          <a:p>
            <a:pPr>
              <a:defRPr sz="1400">
                <a:solidFill>
                  <a:srgbClr val="282828"/>
                </a:solidFill>
              </a:defRPr>
            </a:pPr>
            <a:r>
              <a:rPr/>
              <a:t>• 10K+ hours of AmeriCorps support</a:t>
            </a:r>
          </a:p>
        </p:txBody>
      </p:sp>
      <p:sp>
        <p:nvSpPr>
          <p:cNvPr id="6" name="TextBox 5"/>
          <p:cNvSpPr txBox="1"/>
          <p:nvPr/>
        </p:nvSpPr>
        <p:spPr>
          <a:xfrm>
            <a:off x="457200" y="4663440"/>
            <a:ext cx="8229600" cy="274320"/>
          </a:xfrm>
          <a:prstGeom prst="rect">
            <a:avLst/>
          </a:prstGeom>
          <a:noFill/>
        </p:spPr>
        <p:txBody>
          <a:bodyPr wrap="none">
            <a:spAutoFit/>
          </a:bodyPr>
          <a:lstStyle/>
          <a:p>
            <a:pPr>
              <a:defRPr sz="600">
                <a:solidFill>
                  <a:srgbClr val="0000FF"/>
                </a:solidFill>
              </a:defRPr>
            </a:pPr>
            <a:r>
              <a:rPr>
                <a:hlinkClick r:id="rId4"/>
              </a:rPr>
              <a:t>[1] </a:t>
            </a:r>
            <a:r>
              <a:rPr>
                <a:hlinkClick r:id="rId5"/>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2654"/>
                </a:solidFill>
              </a:defRPr>
            </a:pPr>
            <a:r>
              <a:rPr/>
              <a:t>History &amp; Context</a:t>
            </a:r>
          </a:p>
        </p:txBody>
      </p:sp>
      <p:sp>
        <p:nvSpPr>
          <p:cNvPr id="4" name="TextBox 3"/>
          <p:cNvSpPr txBox="1"/>
          <p:nvPr/>
        </p:nvSpPr>
        <p:spPr>
          <a:xfrm>
            <a:off x="457200" y="1097280"/>
            <a:ext cx="4389120" cy="1828800"/>
          </a:xfrm>
          <a:prstGeom prst="rect">
            <a:avLst/>
          </a:prstGeom>
          <a:noFill/>
        </p:spPr>
        <p:txBody>
          <a:bodyPr wrap="square">
            <a:spAutoFit/>
          </a:bodyPr>
          <a:lstStyle/>
          <a:p>
            <a:pPr>
              <a:lnSpc>
                <a:spcPct val="125000"/>
              </a:lnSpc>
              <a:defRPr sz="1200">
                <a:solidFill>
                  <a:srgbClr val="282828"/>
                </a:solidFill>
              </a:defRPr>
            </a:pPr>
            <a:r>
              <a:rPr/>
              <a:t>Homewood is a one-square-mile neighborhood in Pittsburgh. In the 1950s, the city displaced over 8,000 residents from the Lower Hill District, many of whom moved to Homewood. Due to racial discrimination, they could not buy homes, leading to rental apartments, racial imbalance, white flight, poverty and disinvestment.</a:t>
            </a:r>
          </a:p>
        </p:txBody>
      </p:sp>
      <p:sp>
        <p:nvSpPr>
          <p:cNvPr id="5" name="Oval 4"/>
          <p:cNvSpPr/>
          <p:nvPr/>
        </p:nvSpPr>
        <p:spPr>
          <a:xfrm>
            <a:off x="731520" y="3200400"/>
            <a:ext cx="365760" cy="365760"/>
          </a:xfrm>
          <a:prstGeom prst="ellipse">
            <a:avLst/>
          </a:prstGeom>
          <a:solidFill>
            <a:srgbClr val="C8E6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611880"/>
            <a:ext cx="731520" cy="548640"/>
          </a:xfrm>
          <a:prstGeom prst="rect">
            <a:avLst/>
          </a:prstGeom>
          <a:noFill/>
        </p:spPr>
        <p:txBody>
          <a:bodyPr wrap="none">
            <a:spAutoFit/>
          </a:bodyPr>
          <a:lstStyle/>
          <a:p>
            <a:pPr>
              <a:defRPr sz="900">
                <a:solidFill>
                  <a:srgbClr val="282828"/>
                </a:solidFill>
              </a:defRPr>
            </a:pPr>
            <a:r>
              <a:rPr/>
              <a:t>1800s:</a:t>
            </a:r>
          </a:p>
          <a:p>
            <a:r>
              <a:rPr/>
              <a:t>Affluent suburb via Pennsylvania Railroad</a:t>
            </a:r>
          </a:p>
        </p:txBody>
      </p:sp>
      <p:sp>
        <p:nvSpPr>
          <p:cNvPr id="7" name="Oval 6"/>
          <p:cNvSpPr/>
          <p:nvPr/>
        </p:nvSpPr>
        <p:spPr>
          <a:xfrm>
            <a:off x="3474720" y="3200400"/>
            <a:ext cx="365760" cy="365760"/>
          </a:xfrm>
          <a:prstGeom prst="ellipse">
            <a:avLst/>
          </a:prstGeom>
          <a:solidFill>
            <a:srgbClr val="C8E6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3611880"/>
            <a:ext cx="1371600" cy="731520"/>
          </a:xfrm>
          <a:prstGeom prst="rect">
            <a:avLst/>
          </a:prstGeom>
          <a:noFill/>
        </p:spPr>
        <p:txBody>
          <a:bodyPr wrap="none">
            <a:spAutoFit/>
          </a:bodyPr>
          <a:lstStyle/>
          <a:p>
            <a:pPr>
              <a:defRPr sz="900">
                <a:solidFill>
                  <a:srgbClr val="282828"/>
                </a:solidFill>
              </a:defRPr>
            </a:pPr>
            <a:r>
              <a:rPr/>
              <a:t>1950s:</a:t>
            </a:r>
          </a:p>
          <a:p>
            <a:r>
              <a:rPr/>
              <a:t>Displacement &amp; white flight; decline</a:t>
            </a:r>
          </a:p>
        </p:txBody>
      </p:sp>
      <p:sp>
        <p:nvSpPr>
          <p:cNvPr id="9" name="Oval 8"/>
          <p:cNvSpPr/>
          <p:nvPr/>
        </p:nvSpPr>
        <p:spPr>
          <a:xfrm>
            <a:off x="6217920" y="3200400"/>
            <a:ext cx="365760" cy="365760"/>
          </a:xfrm>
          <a:prstGeom prst="ellipse">
            <a:avLst/>
          </a:prstGeom>
          <a:solidFill>
            <a:srgbClr val="C8E6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3611880"/>
            <a:ext cx="1371600" cy="731520"/>
          </a:xfrm>
          <a:prstGeom prst="rect">
            <a:avLst/>
          </a:prstGeom>
          <a:noFill/>
        </p:spPr>
        <p:txBody>
          <a:bodyPr wrap="none">
            <a:spAutoFit/>
          </a:bodyPr>
          <a:lstStyle/>
          <a:p>
            <a:pPr>
              <a:defRPr sz="900">
                <a:solidFill>
                  <a:srgbClr val="282828"/>
                </a:solidFill>
              </a:defRPr>
            </a:pPr>
            <a:r>
              <a:rPr/>
              <a:t>Today:</a:t>
            </a:r>
          </a:p>
          <a:p>
            <a:r>
              <a:rPr/>
              <a:t>Revitalization &amp; new partnerships</a:t>
            </a:r>
          </a:p>
        </p:txBody>
      </p:sp>
      <p:sp>
        <p:nvSpPr>
          <p:cNvPr id="11" name="Rectangle 10"/>
          <p:cNvSpPr/>
          <p:nvPr/>
        </p:nvSpPr>
        <p:spPr>
          <a:xfrm>
            <a:off x="1097280" y="3374136"/>
            <a:ext cx="2377440" cy="18288"/>
          </a:xfrm>
          <a:prstGeom prst="rect">
            <a:avLst/>
          </a:prstGeom>
          <a:solidFill>
            <a:srgbClr val="007DC3"/>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0" y="3374136"/>
            <a:ext cx="2377440" cy="18288"/>
          </a:xfrm>
          <a:prstGeom prst="rect">
            <a:avLst/>
          </a:prstGeom>
          <a:solidFill>
            <a:srgbClr val="007DC3"/>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663440"/>
            <a:ext cx="8229600" cy="274320"/>
          </a:xfrm>
          <a:prstGeom prst="rect">
            <a:avLst/>
          </a:prstGeom>
          <a:noFill/>
        </p:spPr>
        <p:txBody>
          <a:bodyPr wrap="none">
            <a:spAutoFit/>
          </a:bodyPr>
          <a:lstStyle/>
          <a:p>
            <a:pPr>
              <a:defRPr sz="600">
                <a:solidFill>
                  <a:srgbClr val="0000FF"/>
                </a:solidFill>
              </a:defRPr>
            </a:pPr>
            <a:r>
              <a:rPr>
                <a:hlinkClick r:id="rId3"/>
              </a:rPr>
              <a: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2654"/>
                </a:solidFill>
              </a:defRPr>
            </a:pPr>
            <a:r>
              <a:rPr/>
              <a:t>Programs &amp; Services</a:t>
            </a:r>
          </a:p>
        </p:txBody>
      </p:sp>
      <p:sp>
        <p:nvSpPr>
          <p:cNvPr id="4" name="Rounded Rectangle 3"/>
          <p:cNvSpPr/>
          <p:nvPr/>
        </p:nvSpPr>
        <p:spPr>
          <a:xfrm>
            <a:off x="457200" y="1097280"/>
            <a:ext cx="2743200" cy="2743200"/>
          </a:xfrm>
          <a:prstGeom prst="roundRect">
            <a:avLst/>
          </a:prstGeom>
          <a:solidFill>
            <a:srgbClr val="F2F9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654"/>
                </a:solidFill>
              </a:defRPr>
            </a:pPr>
            <a:r>
              <a:rPr/>
              <a:t>Youth</a:t>
            </a:r>
          </a:p>
          <a:p>
            <a:pPr>
              <a:defRPr sz="1200">
                <a:solidFill>
                  <a:srgbClr val="282828"/>
                </a:solidFill>
              </a:defRPr>
            </a:pPr>
            <a:r>
              <a:rPr/>
              <a:t>• Academic support &amp; tutoring</a:t>
            </a:r>
          </a:p>
          <a:p>
            <a:pPr>
              <a:defRPr sz="1200">
                <a:solidFill>
                  <a:srgbClr val="282828"/>
                </a:solidFill>
              </a:defRPr>
            </a:pPr>
            <a:r>
              <a:rPr/>
              <a:t>• Social-emotional support</a:t>
            </a:r>
          </a:p>
          <a:p>
            <a:pPr>
              <a:defRPr sz="1200">
                <a:solidFill>
                  <a:srgbClr val="282828"/>
                </a:solidFill>
              </a:defRPr>
            </a:pPr>
            <a:r>
              <a:rPr/>
              <a:t>• College &amp; career readiness</a:t>
            </a:r>
          </a:p>
          <a:p>
            <a:pPr>
              <a:defRPr sz="1200">
                <a:solidFill>
                  <a:srgbClr val="282828"/>
                </a:solidFill>
              </a:defRPr>
            </a:pPr>
            <a:r>
              <a:rPr/>
              <a:t>• Mentorship &amp; enrichment</a:t>
            </a:r>
          </a:p>
          <a:p>
            <a:pPr>
              <a:defRPr sz="1200">
                <a:solidFill>
                  <a:srgbClr val="282828"/>
                </a:solidFill>
              </a:defRPr>
            </a:pPr>
            <a:r>
              <a:rPr/>
              <a:t>• Out-of-school-time programs</a:t>
            </a:r>
          </a:p>
        </p:txBody>
      </p:sp>
      <p:sp>
        <p:nvSpPr>
          <p:cNvPr id="5" name="Rounded Rectangle 4"/>
          <p:cNvSpPr/>
          <p:nvPr/>
        </p:nvSpPr>
        <p:spPr>
          <a:xfrm>
            <a:off x="3429000" y="1097280"/>
            <a:ext cx="2743200" cy="2743200"/>
          </a:xfrm>
          <a:prstGeom prst="roundRect">
            <a:avLst/>
          </a:prstGeom>
          <a:solidFill>
            <a:srgbClr val="FFF9F2"/>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654"/>
                </a:solidFill>
              </a:defRPr>
            </a:pPr>
            <a:r>
              <a:rPr/>
              <a:t>Family</a:t>
            </a:r>
          </a:p>
          <a:p>
            <a:pPr>
              <a:defRPr sz="1200">
                <a:solidFill>
                  <a:srgbClr val="282828"/>
                </a:solidFill>
              </a:defRPr>
            </a:pPr>
            <a:r>
              <a:rPr/>
              <a:t>• Two-generation approach</a:t>
            </a:r>
          </a:p>
          <a:p>
            <a:pPr>
              <a:defRPr sz="1200">
                <a:solidFill>
                  <a:srgbClr val="282828"/>
                </a:solidFill>
              </a:defRPr>
            </a:pPr>
            <a:r>
              <a:rPr/>
              <a:t>• Parenting &amp; workforce development</a:t>
            </a:r>
          </a:p>
          <a:p>
            <a:pPr>
              <a:defRPr sz="1200">
                <a:solidFill>
                  <a:srgbClr val="282828"/>
                </a:solidFill>
              </a:defRPr>
            </a:pPr>
            <a:r>
              <a:rPr/>
              <a:t>• Cooking &amp; nutrition classes</a:t>
            </a:r>
          </a:p>
          <a:p>
            <a:pPr>
              <a:defRPr sz="1200">
                <a:solidFill>
                  <a:srgbClr val="282828"/>
                </a:solidFill>
              </a:defRPr>
            </a:pPr>
            <a:r>
              <a:rPr/>
              <a:t>• Food distribution &amp; basic needs</a:t>
            </a:r>
          </a:p>
          <a:p>
            <a:pPr>
              <a:defRPr sz="1200">
                <a:solidFill>
                  <a:srgbClr val="282828"/>
                </a:solidFill>
              </a:defRPr>
            </a:pPr>
            <a:r>
              <a:rPr/>
              <a:t>• Family fellowship events</a:t>
            </a:r>
          </a:p>
        </p:txBody>
      </p:sp>
      <p:sp>
        <p:nvSpPr>
          <p:cNvPr id="6" name="Rounded Rectangle 5"/>
          <p:cNvSpPr/>
          <p:nvPr/>
        </p:nvSpPr>
        <p:spPr>
          <a:xfrm>
            <a:off x="6400800" y="1097280"/>
            <a:ext cx="2743200" cy="2743200"/>
          </a:xfrm>
          <a:prstGeom prst="roundRect">
            <a:avLst/>
          </a:prstGeom>
          <a:solidFill>
            <a:srgbClr val="F5F2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654"/>
                </a:solidFill>
              </a:defRPr>
            </a:pPr>
            <a:r>
              <a:rPr/>
              <a:t>Community</a:t>
            </a:r>
          </a:p>
          <a:p>
            <a:pPr>
              <a:defRPr sz="1200">
                <a:solidFill>
                  <a:srgbClr val="282828"/>
                </a:solidFill>
              </a:defRPr>
            </a:pPr>
            <a:r>
              <a:rPr/>
              <a:t>• Leadership institute focus groups</a:t>
            </a:r>
          </a:p>
          <a:p>
            <a:pPr>
              <a:defRPr sz="1200">
                <a:solidFill>
                  <a:srgbClr val="282828"/>
                </a:solidFill>
              </a:defRPr>
            </a:pPr>
            <a:r>
              <a:rPr/>
              <a:t>• Community dinners &amp; holiday parties</a:t>
            </a:r>
          </a:p>
          <a:p>
            <a:pPr>
              <a:defRPr sz="1200">
                <a:solidFill>
                  <a:srgbClr val="282828"/>
                </a:solidFill>
              </a:defRPr>
            </a:pPr>
            <a:r>
              <a:rPr/>
              <a:t>• Turkey giveaways &amp; toy drives</a:t>
            </a:r>
          </a:p>
          <a:p>
            <a:pPr>
              <a:defRPr sz="1200">
                <a:solidFill>
                  <a:srgbClr val="282828"/>
                </a:solidFill>
              </a:defRPr>
            </a:pPr>
            <a:r>
              <a:rPr/>
              <a:t>• Student showcases &amp; partner exhibits</a:t>
            </a:r>
          </a:p>
        </p:txBody>
      </p:sp>
      <p:sp>
        <p:nvSpPr>
          <p:cNvPr id="7" name="TextBox 6"/>
          <p:cNvSpPr txBox="1"/>
          <p:nvPr/>
        </p:nvSpPr>
        <p:spPr>
          <a:xfrm>
            <a:off x="457200" y="4663440"/>
            <a:ext cx="8229600" cy="274320"/>
          </a:xfrm>
          <a:prstGeom prst="rect">
            <a:avLst/>
          </a:prstGeom>
          <a:noFill/>
        </p:spPr>
        <p:txBody>
          <a:bodyPr wrap="none">
            <a:spAutoFit/>
          </a:bodyPr>
          <a:lstStyle/>
          <a:p>
            <a:pPr>
              <a:defRPr sz="600">
                <a:solidFill>
                  <a:srgbClr val="0000FF"/>
                </a:solidFill>
              </a:defRPr>
            </a:pPr>
            <a:r>
              <a:rPr>
                <a:hlinkClick r:id="rId3"/>
              </a:rPr>
              <a:t>[1] </a:t>
            </a:r>
            <a:r>
              <a:rPr>
                <a:hlinkClick r:id="rId4"/>
              </a:rPr>
              <a:t>[2] </a:t>
            </a:r>
            <a:r>
              <a:rPr>
                <a:hlinkClick r:id="rId5"/>
              </a:rPr>
              <a:t>[3]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2654"/>
                </a:solidFill>
              </a:defRPr>
            </a:pPr>
            <a:r>
              <a:rPr/>
              <a:t>Team &amp; Capacity</a:t>
            </a:r>
          </a:p>
        </p:txBody>
      </p:sp>
      <p:sp>
        <p:nvSpPr>
          <p:cNvPr id="4" name="Rectangle 3"/>
          <p:cNvSpPr/>
          <p:nvPr/>
        </p:nvSpPr>
        <p:spPr>
          <a:xfrm>
            <a:off x="457200" y="1097280"/>
            <a:ext cx="3931920" cy="2743200"/>
          </a:xfrm>
          <a:prstGeom prst="rect">
            <a:avLst/>
          </a:prstGeom>
          <a:solidFill>
            <a:srgbClr val="F0F6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654"/>
                </a:solidFill>
              </a:defRPr>
            </a:pPr>
            <a:r>
              <a:rPr/>
              <a:t>Organizational Strength</a:t>
            </a:r>
          </a:p>
          <a:p>
            <a:pPr>
              <a:defRPr sz="1100">
                <a:solidFill>
                  <a:srgbClr val="282828"/>
                </a:solidFill>
              </a:defRPr>
            </a:pPr>
            <a:r>
              <a:rPr/>
              <a:t>• 10+ years serving Homewood</a:t>
            </a:r>
          </a:p>
          <a:p>
            <a:pPr>
              <a:defRPr sz="1100">
                <a:solidFill>
                  <a:srgbClr val="282828"/>
                </a:solidFill>
              </a:defRPr>
            </a:pPr>
            <a:r>
              <a:rPr/>
              <a:t>• $25M+ raised &amp; managed</a:t>
            </a:r>
          </a:p>
          <a:p>
            <a:pPr>
              <a:defRPr sz="1100">
                <a:solidFill>
                  <a:srgbClr val="282828"/>
                </a:solidFill>
              </a:defRPr>
            </a:pPr>
            <a:r>
              <a:rPr/>
              <a:t>• Serves 1,400+ youth annually</a:t>
            </a:r>
          </a:p>
          <a:p>
            <a:pPr>
              <a:defRPr sz="1100">
                <a:solidFill>
                  <a:srgbClr val="282828"/>
                </a:solidFill>
              </a:defRPr>
            </a:pPr>
            <a:r>
              <a:rPr/>
              <a:t>• Major funders: R.K. Mellon Foundation, Heinz Endowments, Google.org</a:t>
            </a:r>
          </a:p>
          <a:p>
            <a:pPr>
              <a:defRPr sz="1100">
                <a:solidFill>
                  <a:srgbClr val="282828"/>
                </a:solidFill>
              </a:defRPr>
            </a:pPr>
            <a:r>
              <a:rPr/>
              <a:t>• Active with 58+ community partners</a:t>
            </a:r>
          </a:p>
        </p:txBody>
      </p:sp>
      <p:sp>
        <p:nvSpPr>
          <p:cNvPr id="5" name="Rectangle 4"/>
          <p:cNvSpPr/>
          <p:nvPr/>
        </p:nvSpPr>
        <p:spPr>
          <a:xfrm>
            <a:off x="4663440" y="1097280"/>
            <a:ext cx="3931920" cy="2743200"/>
          </a:xfrm>
          <a:prstGeom prst="rect">
            <a:avLst/>
          </a:prstGeom>
          <a:solidFill>
            <a:srgbClr val="FFF5F0"/>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654"/>
                </a:solidFill>
              </a:defRPr>
            </a:pPr>
            <a:r>
              <a:rPr/>
              <a:t>Key Team &amp; Advisors</a:t>
            </a:r>
          </a:p>
          <a:p>
            <a:pPr>
              <a:defRPr sz="1100">
                <a:solidFill>
                  <a:srgbClr val="282828"/>
                </a:solidFill>
              </a:defRPr>
            </a:pPr>
            <a:r>
              <a:rPr/>
              <a:t>• Walter Lewis – CEO: leads strategy &amp; operations, $25M raised, 1,400 youth served</a:t>
            </a:r>
          </a:p>
          <a:p>
            <a:pPr>
              <a:defRPr sz="1100">
                <a:solidFill>
                  <a:srgbClr val="282828"/>
                </a:solidFill>
              </a:defRPr>
            </a:pPr>
            <a:r>
              <a:rPr/>
              <a:t>• Jomari Peterson – System Architect: DAO builder designing on-chain systems</a:t>
            </a:r>
          </a:p>
          <a:p>
            <a:pPr>
              <a:defRPr sz="1100">
                <a:solidFill>
                  <a:srgbClr val="282828"/>
                </a:solidFill>
              </a:defRPr>
            </a:pPr>
            <a:r>
              <a:rPr/>
              <a:t>• Erica Lewis – Family &amp; Community Engagement: oversees outreach and services</a:t>
            </a:r>
          </a:p>
          <a:p>
            <a:pPr>
              <a:defRPr sz="1100">
                <a:solidFill>
                  <a:srgbClr val="282828"/>
                </a:solidFill>
              </a:defRPr>
            </a:pPr>
            <a:r>
              <a:rPr/>
              <a:t>• Becky Dupree – Controller: manages finance &amp; compliance</a:t>
            </a:r>
          </a:p>
          <a:p>
            <a:pPr>
              <a:defRPr sz="1100">
                <a:solidFill>
                  <a:srgbClr val="282828"/>
                </a:solidFill>
              </a:defRPr>
            </a:pPr>
            <a:r>
              <a:rPr/>
              <a:t>• Dr. John M. Wallace Jr. – Board President: professor, pastor &amp; community leader</a:t>
            </a:r>
          </a:p>
        </p:txBody>
      </p:sp>
      <p:sp>
        <p:nvSpPr>
          <p:cNvPr id="6" name="TextBox 5"/>
          <p:cNvSpPr txBox="1"/>
          <p:nvPr/>
        </p:nvSpPr>
        <p:spPr>
          <a:xfrm>
            <a:off x="457200" y="4663440"/>
            <a:ext cx="8229600" cy="274320"/>
          </a:xfrm>
          <a:prstGeom prst="rect">
            <a:avLst/>
          </a:prstGeom>
          <a:noFill/>
        </p:spPr>
        <p:txBody>
          <a:bodyPr wrap="none">
            <a:spAutoFit/>
          </a:bodyPr>
          <a:lstStyle/>
          <a:p>
            <a:pPr>
              <a:defRPr sz="600">
                <a:solidFill>
                  <a:srgbClr val="0000FF"/>
                </a:solidFill>
              </a:defRPr>
            </a:pPr>
            <a:r>
              <a:rPr>
                <a:hlinkClick r:id="rId3"/>
              </a:rPr>
              <a:t>[1] </a:t>
            </a:r>
            <a:r>
              <a:rPr>
                <a:hlinkClick r:id="rId3"/>
              </a:rPr>
              <a:t>[2] </a:t>
            </a:r>
            <a:r>
              <a:rPr>
                <a:hlinkClick r:id="rId3"/>
              </a:rPr>
              <a:t>[3] </a:t>
            </a:r>
            <a:r>
              <a:rPr>
                <a:hlinkClick r:id="rId3"/>
              </a:rPr>
              <a:t>[4]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2654"/>
                </a:solidFill>
              </a:defRPr>
            </a:pPr>
            <a:r>
              <a:rPr/>
              <a:t>Community Finance Protocol</a:t>
            </a:r>
          </a:p>
        </p:txBody>
      </p:sp>
      <p:sp>
        <p:nvSpPr>
          <p:cNvPr id="4" name="TextBox 3"/>
          <p:cNvSpPr txBox="1"/>
          <p:nvPr/>
        </p:nvSpPr>
        <p:spPr>
          <a:xfrm>
            <a:off x="457200" y="1097280"/>
            <a:ext cx="5486400" cy="2011680"/>
          </a:xfrm>
          <a:prstGeom prst="rect">
            <a:avLst/>
          </a:prstGeom>
          <a:noFill/>
        </p:spPr>
        <p:txBody>
          <a:bodyPr wrap="none">
            <a:spAutoFit/>
          </a:bodyPr>
          <a:lstStyle/>
          <a:p/>
          <a:p>
            <a:pPr>
              <a:defRPr sz="1300">
                <a:solidFill>
                  <a:srgbClr val="282828"/>
                </a:solidFill>
              </a:defRPr>
            </a:pPr>
            <a:r>
              <a:rPr/>
              <a:t>• Combines Time Dollar Banking and Fractional Ownership into a cohesive system</a:t>
            </a:r>
          </a:p>
          <a:p>
            <a:pPr>
              <a:defRPr sz="1300">
                <a:solidFill>
                  <a:srgbClr val="282828"/>
                </a:solidFill>
              </a:defRPr>
            </a:pPr>
            <a:r>
              <a:rPr/>
              <a:t>• Enables community members to contribute time &amp; money and earn equity</a:t>
            </a:r>
          </a:p>
          <a:p>
            <a:pPr>
              <a:defRPr sz="1300">
                <a:solidFill>
                  <a:srgbClr val="282828"/>
                </a:solidFill>
              </a:defRPr>
            </a:pPr>
            <a:r>
              <a:rPr/>
              <a:t>• Uses identity‑gated tokens &amp; stablecoins for transparent settlement</a:t>
            </a:r>
          </a:p>
          <a:p>
            <a:pPr>
              <a:defRPr sz="1300">
                <a:solidFill>
                  <a:srgbClr val="282828"/>
                </a:solidFill>
              </a:defRPr>
            </a:pPr>
            <a:r>
              <a:rPr/>
              <a:t>• Deploys on-chain governance to keep control in the hands of residents</a:t>
            </a:r>
          </a:p>
        </p:txBody>
      </p:sp>
      <p:sp>
        <p:nvSpPr>
          <p:cNvPr id="5" name="Rounded Rectangle 4"/>
          <p:cNvSpPr/>
          <p:nvPr/>
        </p:nvSpPr>
        <p:spPr>
          <a:xfrm>
            <a:off x="6675120" y="1920240"/>
            <a:ext cx="1280160" cy="548640"/>
          </a:xfrm>
          <a:prstGeom prst="roundRect">
            <a:avLst/>
          </a:prstGeom>
          <a:solidFill>
            <a:srgbClr val="FFF0E6"/>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Time Dollar Banking</a:t>
            </a:r>
          </a:p>
        </p:txBody>
      </p:sp>
      <p:sp>
        <p:nvSpPr>
          <p:cNvPr id="6" name="Rounded Rectangle 5"/>
          <p:cNvSpPr/>
          <p:nvPr/>
        </p:nvSpPr>
        <p:spPr>
          <a:xfrm>
            <a:off x="6675120" y="2651760"/>
            <a:ext cx="1280160" cy="548640"/>
          </a:xfrm>
          <a:prstGeom prst="roundRect">
            <a:avLst/>
          </a:prstGeom>
          <a:solidFill>
            <a:srgbClr val="E6FFF0"/>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Fractional Ownership</a:t>
            </a:r>
          </a:p>
        </p:txBody>
      </p:sp>
      <p:sp>
        <p:nvSpPr>
          <p:cNvPr id="7" name="Rounded Rectangle 6"/>
          <p:cNvSpPr/>
          <p:nvPr/>
        </p:nvSpPr>
        <p:spPr>
          <a:xfrm>
            <a:off x="5943600" y="3383280"/>
            <a:ext cx="2194560" cy="548640"/>
          </a:xfrm>
          <a:prstGeom prst="roundRect">
            <a:avLst/>
          </a:prstGeom>
          <a:solidFill>
            <a:srgbClr val="F0F5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Community Finance Protocol</a:t>
            </a:r>
          </a:p>
        </p:txBody>
      </p:sp>
      <p:cxnSp>
        <p:nvCxnSpPr>
          <p:cNvPr id="8" name="Connector 7"/>
          <p:cNvCxnSpPr/>
          <p:nvPr/>
        </p:nvCxnSpPr>
        <p:spPr>
          <a:xfrm flipH="1">
            <a:off x="6675120.3" y="2468880"/>
            <a:ext cx="640079.7000000002" cy="1188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6675120.3" y="3200400"/>
            <a:ext cx="640079.7000000002" cy="457200.0"/>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4663440"/>
            <a:ext cx="8229600" cy="274320"/>
          </a:xfrm>
          <a:prstGeom prst="rect">
            <a:avLst/>
          </a:prstGeom>
          <a:noFill/>
        </p:spPr>
        <p:txBody>
          <a:bodyPr wrap="none">
            <a:spAutoFit/>
          </a:bodyPr>
          <a:lstStyle/>
          <a:p>
            <a:pPr>
              <a:defRPr sz="600">
                <a:solidFill>
                  <a:srgbClr val="0000FF"/>
                </a:solidFill>
              </a:defRPr>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2654"/>
                </a:solidFill>
              </a:defRPr>
            </a:pPr>
            <a:r>
              <a:rPr/>
              <a:t>Time Dollar Banking</a:t>
            </a:r>
          </a:p>
        </p:txBody>
      </p:sp>
      <p:sp>
        <p:nvSpPr>
          <p:cNvPr id="4" name="TextBox 3"/>
          <p:cNvSpPr txBox="1"/>
          <p:nvPr/>
        </p:nvSpPr>
        <p:spPr>
          <a:xfrm>
            <a:off x="457200" y="1097280"/>
            <a:ext cx="5029200" cy="2286000"/>
          </a:xfrm>
          <a:prstGeom prst="rect">
            <a:avLst/>
          </a:prstGeom>
          <a:noFill/>
        </p:spPr>
        <p:txBody>
          <a:bodyPr wrap="none">
            <a:spAutoFit/>
          </a:bodyPr>
          <a:lstStyle/>
          <a:p/>
          <a:p>
            <a:pPr>
              <a:defRPr sz="1300">
                <a:solidFill>
                  <a:srgbClr val="282828"/>
                </a:solidFill>
              </a:defRPr>
            </a:pPr>
            <a:r>
              <a:rPr/>
              <a:t>• Tokenizes community service hours into Time Tokens</a:t>
            </a:r>
          </a:p>
          <a:p>
            <a:pPr>
              <a:defRPr sz="1300">
                <a:solidFill>
                  <a:srgbClr val="282828"/>
                </a:solidFill>
              </a:defRPr>
            </a:pPr>
            <a:r>
              <a:rPr/>
              <a:t>• Verifies contributions via identity-gated smart contracts</a:t>
            </a:r>
          </a:p>
          <a:p>
            <a:pPr>
              <a:defRPr sz="1300">
                <a:solidFill>
                  <a:srgbClr val="282828"/>
                </a:solidFill>
              </a:defRPr>
            </a:pPr>
            <a:r>
              <a:rPr/>
              <a:t>• Tokens redeemable for goods, services or discounts</a:t>
            </a:r>
          </a:p>
          <a:p>
            <a:pPr>
              <a:defRPr sz="1300">
                <a:solidFill>
                  <a:srgbClr val="282828"/>
                </a:solidFill>
              </a:defRPr>
            </a:pPr>
            <a:r>
              <a:rPr/>
              <a:t>• Can convert to stablecoins at a discount</a:t>
            </a:r>
          </a:p>
          <a:p>
            <a:pPr>
              <a:defRPr sz="1300">
                <a:solidFill>
                  <a:srgbClr val="282828"/>
                </a:solidFill>
              </a:defRPr>
            </a:pPr>
            <a:r>
              <a:rPr/>
              <a:t>• Encourages volunteerism and civic engagement</a:t>
            </a:r>
          </a:p>
        </p:txBody>
      </p:sp>
      <p:sp>
        <p:nvSpPr>
          <p:cNvPr id="5" name="Oval 4"/>
          <p:cNvSpPr/>
          <p:nvPr/>
        </p:nvSpPr>
        <p:spPr>
          <a:xfrm>
            <a:off x="6583680" y="1645920"/>
            <a:ext cx="640080" cy="640080"/>
          </a:xfrm>
          <a:prstGeom prst="ellipse">
            <a:avLst/>
          </a:prstGeom>
          <a:solidFill>
            <a:srgbClr val="FFFAE6"/>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Service</a:t>
            </a:r>
          </a:p>
        </p:txBody>
      </p:sp>
      <p:cxnSp>
        <p:nvCxnSpPr>
          <p:cNvPr id="6" name="Connector 5"/>
          <p:cNvCxnSpPr/>
          <p:nvPr/>
        </p:nvCxnSpPr>
        <p:spPr>
          <a:xfrm>
            <a:off x="7223760" y="1965960.0"/>
            <a:ext cx="91440" cy="0.0"/>
          </a:xfrm>
          <a:prstGeom prst="line">
            <a:avLst/>
          </a:prstGeom>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7315200" y="1645920"/>
            <a:ext cx="640080" cy="640080"/>
          </a:xfrm>
          <a:prstGeom prst="ellipse">
            <a:avLst/>
          </a:prstGeom>
          <a:solidFill>
            <a:srgbClr val="E6FFFA"/>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Time</a:t>
            </a:r>
          </a:p>
          <a:p>
            <a:r>
              <a:rPr/>
              <a:t>Tokens</a:t>
            </a:r>
          </a:p>
        </p:txBody>
      </p:sp>
      <p:cxnSp>
        <p:nvCxnSpPr>
          <p:cNvPr id="8" name="Connector 7"/>
          <p:cNvCxnSpPr/>
          <p:nvPr/>
        </p:nvCxnSpPr>
        <p:spPr>
          <a:xfrm>
            <a:off x="7223760.8" y="1965960.0"/>
            <a:ext cx="91440.0" cy="0.0"/>
          </a:xfrm>
          <a:prstGeom prst="line">
            <a:avLst/>
          </a:prstGeom>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046720" y="1645920"/>
            <a:ext cx="640080" cy="640080"/>
          </a:xfrm>
          <a:prstGeom prst="ellipse">
            <a:avLst/>
          </a:prstGeom>
          <a:solidFill>
            <a:srgbClr val="E6F0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Redeem</a:t>
            </a:r>
          </a:p>
          <a:p>
            <a:r>
              <a:rPr/>
              <a:t>Rewards</a:t>
            </a:r>
          </a:p>
        </p:txBody>
      </p:sp>
      <p:sp>
        <p:nvSpPr>
          <p:cNvPr id="10" name="TextBox 9"/>
          <p:cNvSpPr txBox="1"/>
          <p:nvPr/>
        </p:nvSpPr>
        <p:spPr>
          <a:xfrm>
            <a:off x="457200" y="4663440"/>
            <a:ext cx="8229600" cy="274320"/>
          </a:xfrm>
          <a:prstGeom prst="rect">
            <a:avLst/>
          </a:prstGeom>
          <a:noFill/>
        </p:spPr>
        <p:txBody>
          <a:bodyPr wrap="none">
            <a:spAutoFit/>
          </a:bodyPr>
          <a:lstStyle/>
          <a:p>
            <a:pPr>
              <a:defRPr sz="600">
                <a:solidFill>
                  <a:srgbClr val="0000FF"/>
                </a:solidFill>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2800" b="1">
                <a:solidFill>
                  <a:srgbClr val="002654"/>
                </a:solidFill>
              </a:defRPr>
            </a:pPr>
            <a:r>
              <a:rPr/>
              <a:t>Fractional Ownership &amp; Community Investment</a:t>
            </a:r>
          </a:p>
        </p:txBody>
      </p:sp>
      <p:sp>
        <p:nvSpPr>
          <p:cNvPr id="4" name="TextBox 3"/>
          <p:cNvSpPr txBox="1"/>
          <p:nvPr/>
        </p:nvSpPr>
        <p:spPr>
          <a:xfrm>
            <a:off x="457200" y="1097280"/>
            <a:ext cx="5029200" cy="2286000"/>
          </a:xfrm>
          <a:prstGeom prst="rect">
            <a:avLst/>
          </a:prstGeom>
          <a:noFill/>
        </p:spPr>
        <p:txBody>
          <a:bodyPr wrap="none">
            <a:spAutoFit/>
          </a:bodyPr>
          <a:lstStyle/>
          <a:p/>
          <a:p>
            <a:pPr>
              <a:defRPr sz="1300">
                <a:solidFill>
                  <a:srgbClr val="282828"/>
                </a:solidFill>
              </a:defRPr>
            </a:pPr>
            <a:r>
              <a:rPr/>
              <a:t>• Tokenizes real-world assets into fractional digital shares</a:t>
            </a:r>
          </a:p>
          <a:p>
            <a:pPr>
              <a:defRPr sz="1300">
                <a:solidFill>
                  <a:srgbClr val="282828"/>
                </a:solidFill>
              </a:defRPr>
            </a:pPr>
            <a:r>
              <a:rPr/>
              <a:t>• Enables small, local investments in projects</a:t>
            </a:r>
          </a:p>
          <a:p>
            <a:pPr>
              <a:defRPr sz="1300">
                <a:solidFill>
                  <a:srgbClr val="282828"/>
                </a:solidFill>
              </a:defRPr>
            </a:pPr>
            <a:r>
              <a:rPr/>
              <a:t>• Distributes rent and revenue via smart contracts</a:t>
            </a:r>
          </a:p>
          <a:p>
            <a:pPr>
              <a:defRPr sz="1300">
                <a:solidFill>
                  <a:srgbClr val="282828"/>
                </a:solidFill>
              </a:defRPr>
            </a:pPr>
            <a:r>
              <a:rPr/>
              <a:t>• DAO governance ensures decisions are community-driven</a:t>
            </a:r>
          </a:p>
          <a:p>
            <a:pPr>
              <a:defRPr sz="1300">
                <a:solidFill>
                  <a:srgbClr val="282828"/>
                </a:solidFill>
              </a:defRPr>
            </a:pPr>
            <a:r>
              <a:rPr/>
              <a:t>• Stablecoins provide transparent, instant settlement</a:t>
            </a:r>
          </a:p>
        </p:txBody>
      </p:sp>
      <p:sp>
        <p:nvSpPr>
          <p:cNvPr id="5" name="Rectangle 4"/>
          <p:cNvSpPr/>
          <p:nvPr/>
        </p:nvSpPr>
        <p:spPr>
          <a:xfrm>
            <a:off x="6400800" y="1463040"/>
            <a:ext cx="1463040" cy="548640"/>
          </a:xfrm>
          <a:prstGeom prst="rect">
            <a:avLst/>
          </a:prstGeom>
          <a:solidFill>
            <a:srgbClr val="FFF0E6"/>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Project / Asset</a:t>
            </a:r>
          </a:p>
        </p:txBody>
      </p:sp>
      <p:cxnSp>
        <p:nvCxnSpPr>
          <p:cNvPr id="6" name="Connector 5"/>
          <p:cNvCxnSpPr/>
          <p:nvPr/>
        </p:nvCxnSpPr>
        <p:spPr>
          <a:xfrm>
            <a:off x="7863840" y="1737360.0"/>
            <a:ext cx="91440" cy="0.0"/>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955280" y="1463040"/>
            <a:ext cx="1463040" cy="548640"/>
          </a:xfrm>
          <a:prstGeom prst="rect">
            <a:avLst/>
          </a:prstGeom>
          <a:solidFill>
            <a:srgbClr val="E6FFF0"/>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Tokenization</a:t>
            </a:r>
          </a:p>
        </p:txBody>
      </p:sp>
      <p:cxnSp>
        <p:nvCxnSpPr>
          <p:cNvPr id="8" name="Connector 7"/>
          <p:cNvCxnSpPr/>
          <p:nvPr/>
        </p:nvCxnSpPr>
        <p:spPr>
          <a:xfrm>
            <a:off x="7863841.7" y="1737360.0"/>
            <a:ext cx="91440.0" cy="0.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9509760" y="1463040"/>
            <a:ext cx="1463040" cy="548640"/>
          </a:xfrm>
          <a:prstGeom prst="rect">
            <a:avLst/>
          </a:prstGeom>
          <a:solidFill>
            <a:srgbClr val="E6F0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Investors</a:t>
            </a:r>
          </a:p>
        </p:txBody>
      </p:sp>
      <p:cxnSp>
        <p:nvCxnSpPr>
          <p:cNvPr id="10" name="Connector 9"/>
          <p:cNvCxnSpPr/>
          <p:nvPr/>
        </p:nvCxnSpPr>
        <p:spPr>
          <a:xfrm>
            <a:off x="7863843.4" y="1737360.0"/>
            <a:ext cx="91440.0" cy="0.0"/>
          </a:xfrm>
          <a:prstGeom prst="line">
            <a:avLst/>
          </a:prstGeom>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1064240" y="1463040"/>
            <a:ext cx="1463040" cy="548640"/>
          </a:xfrm>
          <a:prstGeom prst="rect">
            <a:avLst/>
          </a:prstGeom>
          <a:solidFill>
            <a:srgbClr val="F0FFF5"/>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r>
              <a:rPr/>
              <a:t>Returns &amp; Impact</a:t>
            </a:r>
          </a:p>
        </p:txBody>
      </p:sp>
      <p:sp>
        <p:nvSpPr>
          <p:cNvPr id="12" name="TextBox 11"/>
          <p:cNvSpPr txBox="1"/>
          <p:nvPr/>
        </p:nvSpPr>
        <p:spPr>
          <a:xfrm>
            <a:off x="457200" y="4663440"/>
            <a:ext cx="8229600" cy="274320"/>
          </a:xfrm>
          <a:prstGeom prst="rect">
            <a:avLst/>
          </a:prstGeom>
          <a:noFill/>
        </p:spPr>
        <p:txBody>
          <a:bodyPr wrap="none">
            <a:spAutoFit/>
          </a:bodyPr>
          <a:lstStyle/>
          <a:p>
            <a:pPr>
              <a:defRPr sz="600">
                <a:solidFill>
                  <a:srgbClr val="0000FF"/>
                </a:solidFill>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000" b="1">
                <a:solidFill>
                  <a:srgbClr val="002654"/>
                </a:solidFill>
              </a:defRPr>
            </a:pPr>
            <a:r>
              <a:rPr/>
              <a:t>Synergies &amp; Impact Potential</a:t>
            </a:r>
          </a:p>
        </p:txBody>
      </p:sp>
      <p:sp>
        <p:nvSpPr>
          <p:cNvPr id="4" name="TextBox 3"/>
          <p:cNvSpPr txBox="1"/>
          <p:nvPr/>
        </p:nvSpPr>
        <p:spPr>
          <a:xfrm>
            <a:off x="457200" y="1097280"/>
            <a:ext cx="5943600" cy="3200400"/>
          </a:xfrm>
          <a:prstGeom prst="rect">
            <a:avLst/>
          </a:prstGeom>
          <a:noFill/>
        </p:spPr>
        <p:txBody>
          <a:bodyPr wrap="none">
            <a:spAutoFit/>
          </a:bodyPr>
          <a:lstStyle/>
          <a:p/>
          <a:p>
            <a:pPr>
              <a:defRPr sz="1300">
                <a:solidFill>
                  <a:srgbClr val="282828"/>
                </a:solidFill>
              </a:defRPr>
            </a:pPr>
            <a:r>
              <a:rPr/>
              <a:t>• Leverages HCV’s trusted network to ensure equitable distribution and engagement</a:t>
            </a:r>
          </a:p>
          <a:p>
            <a:pPr>
              <a:defRPr sz="1300">
                <a:solidFill>
                  <a:srgbClr val="282828"/>
                </a:solidFill>
              </a:defRPr>
            </a:pPr>
            <a:r>
              <a:rPr/>
              <a:t>• Rewards volunteerism through Time Dollar Banking, fostering civic participation</a:t>
            </a:r>
          </a:p>
          <a:p>
            <a:pPr>
              <a:defRPr sz="1300">
                <a:solidFill>
                  <a:srgbClr val="282828"/>
                </a:solidFill>
              </a:defRPr>
            </a:pPr>
            <a:r>
              <a:rPr/>
              <a:t>• Democratizes investment via Fractional Ownership, building shared wealth</a:t>
            </a:r>
          </a:p>
          <a:p>
            <a:pPr>
              <a:defRPr sz="1300">
                <a:solidFill>
                  <a:srgbClr val="282828"/>
                </a:solidFill>
              </a:defRPr>
            </a:pPr>
            <a:r>
              <a:rPr/>
              <a:t>• Stablecoin rails provide transparent, near-instant settlement and accountability</a:t>
            </a:r>
          </a:p>
          <a:p>
            <a:pPr>
              <a:defRPr sz="1300">
                <a:solidFill>
                  <a:srgbClr val="282828"/>
                </a:solidFill>
              </a:defRPr>
            </a:pPr>
            <a:r>
              <a:rPr/>
              <a:t>• Creates a holistic financial ecosystem uplifting families and neighborhoods</a:t>
            </a:r>
          </a:p>
        </p:txBody>
      </p:sp>
      <p:sp>
        <p:nvSpPr>
          <p:cNvPr id="5" name="Oval 4"/>
          <p:cNvSpPr/>
          <p:nvPr/>
        </p:nvSpPr>
        <p:spPr>
          <a:xfrm>
            <a:off x="6858000" y="2743200"/>
            <a:ext cx="1645920" cy="1645920"/>
          </a:xfrm>
          <a:prstGeom prst="ellipse">
            <a:avLst/>
          </a:prstGeom>
          <a:no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132320" y="3017520"/>
            <a:ext cx="1097280" cy="1097280"/>
          </a:xfrm>
          <a:prstGeom prst="ellipse">
            <a:avLst/>
          </a:prstGeom>
          <a:solidFill>
            <a:srgbClr val="F0F5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69480" y="3154680"/>
            <a:ext cx="822960" cy="822960"/>
          </a:xfrm>
          <a:prstGeom prst="rect">
            <a:avLst/>
          </a:prstGeom>
          <a:noFill/>
        </p:spPr>
        <p:txBody>
          <a:bodyPr wrap="none">
            <a:spAutoFit/>
          </a:bodyPr>
          <a:lstStyle/>
          <a:p>
            <a:pPr algn="ctr">
              <a:defRPr sz="1200">
                <a:solidFill>
                  <a:srgbClr val="002654"/>
                </a:solidFill>
              </a:defRPr>
            </a:pPr>
            <a:r>
              <a:rPr/>
              <a:t>Synergy</a:t>
            </a:r>
          </a:p>
        </p:txBody>
      </p:sp>
      <p:sp>
        <p:nvSpPr>
          <p:cNvPr id="8" name="TextBox 7"/>
          <p:cNvSpPr txBox="1"/>
          <p:nvPr/>
        </p:nvSpPr>
        <p:spPr>
          <a:xfrm>
            <a:off x="457200" y="4663440"/>
            <a:ext cx="8229600" cy="274320"/>
          </a:xfrm>
          <a:prstGeom prst="rect">
            <a:avLst/>
          </a:prstGeom>
          <a:noFill/>
        </p:spPr>
        <p:txBody>
          <a:bodyPr wrap="none">
            <a:spAutoFit/>
          </a:bodyPr>
          <a:lstStyle/>
          <a:p>
            <a:pPr>
              <a:defRPr sz="600">
                <a:solidFill>
                  <a:srgbClr val="0000FF"/>
                </a:solidFill>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000" b="1">
                <a:solidFill>
                  <a:srgbClr val="002654"/>
                </a:solidFill>
              </a:defRPr>
            </a:pPr>
            <a:r>
              <a:rPr/>
              <a:t>Roadmap &amp; Call to Action</a:t>
            </a:r>
          </a:p>
        </p:txBody>
      </p:sp>
      <p:sp>
        <p:nvSpPr>
          <p:cNvPr id="4" name="Rectangle 3"/>
          <p:cNvSpPr/>
          <p:nvPr/>
        </p:nvSpPr>
        <p:spPr>
          <a:xfrm>
            <a:off x="640080" y="2286000"/>
            <a:ext cx="7772400" cy="109728"/>
          </a:xfrm>
          <a:prstGeom prst="rect">
            <a:avLst/>
          </a:prstGeom>
          <a:solidFill>
            <a:srgbClr val="007DC3"/>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94360" y="2130552"/>
            <a:ext cx="182880" cy="182880"/>
          </a:xfrm>
          <a:prstGeom prst="ellipse">
            <a:avLst/>
          </a:prstGeom>
          <a:solidFill>
            <a:srgbClr val="FFFF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856232"/>
            <a:ext cx="731520" cy="228600"/>
          </a:xfrm>
          <a:prstGeom prst="rect">
            <a:avLst/>
          </a:prstGeom>
          <a:noFill/>
        </p:spPr>
        <p:txBody>
          <a:bodyPr wrap="none">
            <a:spAutoFit/>
          </a:bodyPr>
          <a:lstStyle/>
          <a:p>
            <a:pPr algn="ctr">
              <a:defRPr sz="900" b="1">
                <a:solidFill>
                  <a:srgbClr val="002654"/>
                </a:solidFill>
              </a:defRPr>
            </a:pPr>
            <a:r>
              <a:rPr/>
              <a:t>Q3 2024</a:t>
            </a:r>
          </a:p>
          <a:p>
            <a:pPr algn="ctr">
              <a:defRPr sz="700">
                <a:solidFill>
                  <a:srgbClr val="282828"/>
                </a:solidFill>
              </a:defRPr>
            </a:pPr>
            <a:r>
              <a:rPr/>
              <a:t>Deploy contracts &amp; KYC on Sui</a:t>
            </a:r>
          </a:p>
        </p:txBody>
      </p:sp>
      <p:sp>
        <p:nvSpPr>
          <p:cNvPr id="7" name="Oval 6"/>
          <p:cNvSpPr/>
          <p:nvPr/>
        </p:nvSpPr>
        <p:spPr>
          <a:xfrm>
            <a:off x="2537460" y="2130552"/>
            <a:ext cx="182880" cy="182880"/>
          </a:xfrm>
          <a:prstGeom prst="ellipse">
            <a:avLst/>
          </a:prstGeom>
          <a:solidFill>
            <a:srgbClr val="FFFF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17420" y="1856232"/>
            <a:ext cx="731520" cy="228600"/>
          </a:xfrm>
          <a:prstGeom prst="rect">
            <a:avLst/>
          </a:prstGeom>
          <a:noFill/>
        </p:spPr>
        <p:txBody>
          <a:bodyPr wrap="none">
            <a:spAutoFit/>
          </a:bodyPr>
          <a:lstStyle/>
          <a:p>
            <a:pPr algn="ctr">
              <a:defRPr sz="900" b="1">
                <a:solidFill>
                  <a:srgbClr val="002654"/>
                </a:solidFill>
              </a:defRPr>
            </a:pPr>
            <a:r>
              <a:rPr/>
              <a:t>Q4 2024</a:t>
            </a:r>
          </a:p>
          <a:p>
            <a:pPr algn="ctr">
              <a:defRPr sz="700">
                <a:solidFill>
                  <a:srgbClr val="282828"/>
                </a:solidFill>
              </a:defRPr>
            </a:pPr>
            <a:r>
              <a:rPr/>
              <a:t>Launch first community investment pilot</a:t>
            </a:r>
          </a:p>
        </p:txBody>
      </p:sp>
      <p:sp>
        <p:nvSpPr>
          <p:cNvPr id="9" name="Oval 8"/>
          <p:cNvSpPr/>
          <p:nvPr/>
        </p:nvSpPr>
        <p:spPr>
          <a:xfrm>
            <a:off x="4480560" y="2130552"/>
            <a:ext cx="182880" cy="182880"/>
          </a:xfrm>
          <a:prstGeom prst="ellipse">
            <a:avLst/>
          </a:prstGeom>
          <a:solidFill>
            <a:srgbClr val="FFFF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1856232"/>
            <a:ext cx="731520" cy="228600"/>
          </a:xfrm>
          <a:prstGeom prst="rect">
            <a:avLst/>
          </a:prstGeom>
          <a:noFill/>
        </p:spPr>
        <p:txBody>
          <a:bodyPr wrap="none">
            <a:spAutoFit/>
          </a:bodyPr>
          <a:lstStyle/>
          <a:p>
            <a:pPr algn="ctr">
              <a:defRPr sz="900" b="1">
                <a:solidFill>
                  <a:srgbClr val="002654"/>
                </a:solidFill>
              </a:defRPr>
            </a:pPr>
            <a:r>
              <a:rPr/>
              <a:t>Q1 2025</a:t>
            </a:r>
          </a:p>
          <a:p>
            <a:pPr algn="ctr">
              <a:defRPr sz="700">
                <a:solidFill>
                  <a:srgbClr val="282828"/>
                </a:solidFill>
              </a:defRPr>
            </a:pPr>
            <a:r>
              <a:rPr/>
              <a:t>Governance &amp; distribution tests</a:t>
            </a:r>
          </a:p>
        </p:txBody>
      </p:sp>
      <p:sp>
        <p:nvSpPr>
          <p:cNvPr id="11" name="Oval 10"/>
          <p:cNvSpPr/>
          <p:nvPr/>
        </p:nvSpPr>
        <p:spPr>
          <a:xfrm>
            <a:off x="6423660" y="2130552"/>
            <a:ext cx="182880" cy="182880"/>
          </a:xfrm>
          <a:prstGeom prst="ellipse">
            <a:avLst/>
          </a:prstGeom>
          <a:solidFill>
            <a:srgbClr val="FFFF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03620" y="1856232"/>
            <a:ext cx="731520" cy="228600"/>
          </a:xfrm>
          <a:prstGeom prst="rect">
            <a:avLst/>
          </a:prstGeom>
          <a:noFill/>
        </p:spPr>
        <p:txBody>
          <a:bodyPr wrap="none">
            <a:spAutoFit/>
          </a:bodyPr>
          <a:lstStyle/>
          <a:p>
            <a:pPr algn="ctr">
              <a:defRPr sz="900" b="1">
                <a:solidFill>
                  <a:srgbClr val="002654"/>
                </a:solidFill>
              </a:defRPr>
            </a:pPr>
            <a:r>
              <a:rPr/>
              <a:t>Q2 2025</a:t>
            </a:r>
          </a:p>
          <a:p>
            <a:pPr algn="ctr">
              <a:defRPr sz="700">
                <a:solidFill>
                  <a:srgbClr val="282828"/>
                </a:solidFill>
              </a:defRPr>
            </a:pPr>
            <a:r>
              <a:rPr/>
              <a:t>Expand to new neighborhoods &amp; white‑label kit</a:t>
            </a:r>
          </a:p>
        </p:txBody>
      </p:sp>
      <p:sp>
        <p:nvSpPr>
          <p:cNvPr id="13" name="Oval 12"/>
          <p:cNvSpPr/>
          <p:nvPr/>
        </p:nvSpPr>
        <p:spPr>
          <a:xfrm>
            <a:off x="8366760" y="2130552"/>
            <a:ext cx="182880" cy="182880"/>
          </a:xfrm>
          <a:prstGeom prst="ellipse">
            <a:avLst/>
          </a:prstGeom>
          <a:solidFill>
            <a:srgbClr val="FFFFFF"/>
          </a:solidFill>
          <a:ln>
            <a:solidFill>
              <a:srgbClr val="007D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1856232"/>
            <a:ext cx="731520" cy="228600"/>
          </a:xfrm>
          <a:prstGeom prst="rect">
            <a:avLst/>
          </a:prstGeom>
          <a:noFill/>
        </p:spPr>
        <p:txBody>
          <a:bodyPr wrap="none">
            <a:spAutoFit/>
          </a:bodyPr>
          <a:lstStyle/>
          <a:p>
            <a:pPr algn="ctr">
              <a:defRPr sz="900" b="1">
                <a:solidFill>
                  <a:srgbClr val="002654"/>
                </a:solidFill>
              </a:defRPr>
            </a:pPr>
            <a:r>
              <a:rPr/>
              <a:t>Q3 2025+</a:t>
            </a:r>
          </a:p>
          <a:p>
            <a:pPr algn="ctr">
              <a:defRPr sz="700">
                <a:solidFill>
                  <a:srgbClr val="282828"/>
                </a:solidFill>
              </a:defRPr>
            </a:pPr>
            <a:r>
              <a:rPr/>
              <a:t>Scale across communities</a:t>
            </a:r>
          </a:p>
        </p:txBody>
      </p:sp>
      <p:sp>
        <p:nvSpPr>
          <p:cNvPr id="15" name="TextBox 14"/>
          <p:cNvSpPr txBox="1"/>
          <p:nvPr/>
        </p:nvSpPr>
        <p:spPr>
          <a:xfrm>
            <a:off x="457200" y="3108960"/>
            <a:ext cx="8229600" cy="1463040"/>
          </a:xfrm>
          <a:prstGeom prst="rect">
            <a:avLst/>
          </a:prstGeom>
          <a:noFill/>
        </p:spPr>
        <p:txBody>
          <a:bodyPr wrap="none">
            <a:spAutoFit/>
          </a:bodyPr>
          <a:lstStyle/>
          <a:p/>
          <a:p>
            <a:pPr>
              <a:defRPr sz="1300">
                <a:solidFill>
                  <a:srgbClr val="282828"/>
                </a:solidFill>
              </a:defRPr>
            </a:pPr>
            <a:r>
              <a:rPr/>
              <a:t>• Provide technical mentorship &amp; integration guidance with Aptos/Cetus</a:t>
            </a:r>
          </a:p>
          <a:p>
            <a:pPr>
              <a:defRPr sz="1300">
                <a:solidFill>
                  <a:srgbClr val="282828"/>
                </a:solidFill>
              </a:defRPr>
            </a:pPr>
            <a:r>
              <a:rPr/>
              <a:t>• Support funding &amp; grants for development and local adoption</a:t>
            </a:r>
          </a:p>
          <a:p>
            <a:pPr>
              <a:defRPr sz="1300">
                <a:solidFill>
                  <a:srgbClr val="282828"/>
                </a:solidFill>
              </a:defRPr>
            </a:pPr>
            <a:r>
              <a:rPr/>
              <a:t>• Facilitate partnerships with wallets, stablecoin issuers &amp; DeFi projects</a:t>
            </a:r>
          </a:p>
          <a:p>
            <a:pPr>
              <a:defRPr sz="1300">
                <a:solidFill>
                  <a:srgbClr val="282828"/>
                </a:solidFill>
              </a:defRPr>
            </a:pPr>
            <a:r>
              <a:rPr/>
              <a:t>• Join us in building inclusive finance for Homewood and beyond</a:t>
            </a:r>
          </a:p>
        </p:txBody>
      </p:sp>
      <p:sp>
        <p:nvSpPr>
          <p:cNvPr id="16" name="TextBox 15"/>
          <p:cNvSpPr txBox="1"/>
          <p:nvPr/>
        </p:nvSpPr>
        <p:spPr>
          <a:xfrm>
            <a:off x="457200" y="4663440"/>
            <a:ext cx="8229600" cy="274320"/>
          </a:xfrm>
          <a:prstGeom prst="rect">
            <a:avLst/>
          </a:prstGeom>
          <a:noFill/>
        </p:spPr>
        <p:txBody>
          <a:bodyPr wrap="none">
            <a:spAutoFit/>
          </a:bodyPr>
          <a:lstStyle/>
          <a:p>
            <a:pPr>
              <a:defRPr sz="600">
                <a:solidFill>
                  <a:srgbClr val="0000FF"/>
                </a:solidFill>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e757e8f-ea24-4072-b0dc-d3ccee32edcd.png"/>
          <p:cNvPicPr>
            <a:picLocks noChangeAspect="1"/>
          </p:cNvPicPr>
          <p:nvPr/>
        </p:nvPicPr>
        <p:blipFill>
          <a:blip r:embed="rId2"/>
          <a:stretch>
            <a:fillRect/>
          </a:stretch>
        </p:blipFill>
        <p:spPr>
          <a:xfrm>
            <a:off x="0" y="0"/>
            <a:ext cx="9144000" cy="5148072"/>
          </a:xfrm>
          <a:prstGeom prst="rect">
            <a:avLst/>
          </a:prstGeom>
        </p:spPr>
      </p:pic>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2654"/>
                </a:solidFill>
              </a:defRPr>
            </a:pPr>
            <a:r>
              <a:rPr/>
              <a:t>Conclusion &amp; Vision</a:t>
            </a:r>
          </a:p>
        </p:txBody>
      </p:sp>
      <p:sp>
        <p:nvSpPr>
          <p:cNvPr id="4" name="TextBox 3"/>
          <p:cNvSpPr txBox="1"/>
          <p:nvPr/>
        </p:nvSpPr>
        <p:spPr>
          <a:xfrm>
            <a:off x="457200" y="1371600"/>
            <a:ext cx="8229600" cy="2286000"/>
          </a:xfrm>
          <a:prstGeom prst="rect">
            <a:avLst/>
          </a:prstGeom>
          <a:noFill/>
        </p:spPr>
        <p:txBody>
          <a:bodyPr wrap="none">
            <a:spAutoFit/>
          </a:bodyPr>
          <a:lstStyle/>
          <a:p/>
          <a:p>
            <a:pPr algn="l">
              <a:lnSpc>
                <a:spcPct val="125000"/>
              </a:lnSpc>
              <a:defRPr sz="1400">
                <a:solidFill>
                  <a:srgbClr val="282828"/>
                </a:solidFill>
              </a:defRPr>
            </a:pPr>
            <a:r>
              <a:rPr/>
              <a:t>Homewood Children’s Village has a decade‑long track record of transforming lives through holistic programs and community leadership. By partnering with the Community Finance Protocol, we can empower families to co‑own their future using innovative blockchain tools. Join us to build a resilient, inclusive financial system that helps families thrive and neighborhoods flourish.</a:t>
            </a:r>
          </a:p>
        </p:txBody>
      </p:sp>
      <p:sp>
        <p:nvSpPr>
          <p:cNvPr id="5" name="TextBox 4"/>
          <p:cNvSpPr txBox="1"/>
          <p:nvPr/>
        </p:nvSpPr>
        <p:spPr>
          <a:xfrm>
            <a:off x="457200" y="4663440"/>
            <a:ext cx="8229600" cy="274320"/>
          </a:xfrm>
          <a:prstGeom prst="rect">
            <a:avLst/>
          </a:prstGeom>
          <a:noFill/>
        </p:spPr>
        <p:txBody>
          <a:bodyPr wrap="none">
            <a:spAutoFit/>
          </a:bodyPr>
          <a:lstStyle/>
          <a:p>
            <a:pPr>
              <a:defRPr sz="600">
                <a:solidFill>
                  <a:srgbClr val="0000FF"/>
                </a:solidFill>
              </a:defRPr>
            </a:pPr>
            <a:r>
              <a:rPr>
                <a:hlinkClick r:id="rId3"/>
              </a:rPr>
              <a:t>[1] </a:t>
            </a:r>
            <a:r>
              <a:rPr>
                <a:hlinkClick r:id="rId4"/>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